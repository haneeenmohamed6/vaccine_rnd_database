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59" r:id="rId6"/>
    <p:sldId id="260" r:id="rId7"/>
    <p:sldId id="269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ED067-9F98-4822-8825-E0B257404F07}" v="3" dt="2026-08-16T17:51:03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171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1A536-FD3A-C16A-BE89-10B9E69D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FC31E-9ACD-2676-1BAD-C10E05463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CEA5A-6941-EAAC-1323-25C341D4C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8BB2A-E08B-DF6B-EDAD-AF9930F4FB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93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97BC3-BB33-296C-4E6B-F1AC0D7FB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A7979-F367-1876-ECF6-8265F7C20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1D9D0-C41A-181A-E6A5-3FEB57889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923EB-6AFA-7BD0-F641-CA9DDBF35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2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937760"/>
            <a:ext cx="3291840" cy="3291840"/>
          </a:xfrm>
          <a:prstGeom prst="ellipse">
            <a:avLst/>
          </a:prstGeom>
          <a:solidFill>
            <a:srgbClr val="4A3B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Vaccine Research &amp; Development
</a:t>
            </a:r>
            <a:r>
              <a:rPr lang="en-US" sz="42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relational database modeling the full vaccine R&amp;D pipeline — from candidate and antigen design through preclinical research, clinical trials, and adverse-event safety monitoring.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4A3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vaccine_rnd_db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5989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5989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9496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relational tables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1535" y="4788246"/>
            <a:ext cx="3017520" cy="451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5600" y="4622803"/>
            <a:ext cx="4702175" cy="955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Name : Haneen Mohamed Fathi 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ID : 221001966</a:t>
            </a:r>
            <a:endParaRPr lang="en-US" sz="1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708FC3-E6E3-0475-259F-FA1E26AD3DCD}"/>
              </a:ext>
            </a:extLst>
          </p:cNvPr>
          <p:cNvSpPr txBox="1"/>
          <p:nvPr/>
        </p:nvSpPr>
        <p:spPr>
          <a:xfrm>
            <a:off x="810863" y="4947345"/>
            <a:ext cx="2262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</a:rPr>
              <a:t>Under supervision: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DR/Mohammed el </a:t>
            </a:r>
            <a:r>
              <a:rPr lang="en-US" sz="1600" dirty="0" err="1">
                <a:solidFill>
                  <a:schemeClr val="bg1"/>
                </a:solidFill>
                <a:latin typeface="+mj-lt"/>
              </a:rPr>
              <a:t>sayeh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2DA6D9-FE17-7208-E387-897F2103F665}"/>
              </a:ext>
            </a:extLst>
          </p:cNvPr>
          <p:cNvSpPr txBox="1"/>
          <p:nvPr/>
        </p:nvSpPr>
        <p:spPr>
          <a:xfrm>
            <a:off x="8867775" y="49244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Vaccine R&amp;D involves multiple interconnected stages, from candidate and antigen development to manufacturing, preclinical and clinical evaluation, and participant safety monitoring. This project aims to develop a centralized relational database that integrates these stages, ensuring data consistency, traceability, and integrity while supporting key R&amp;D processes and business rules.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FFFD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tracks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candidates, antigens, and formulations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batches and quality status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studies and measured results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studies, phases, and participating sites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participant enrollment and lab results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 and vaccine safety monitoring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371600"/>
            <a:ext cx="4800600" cy="4754880"/>
          </a:xfrm>
          <a:prstGeom prst="roundRect">
            <a:avLst>
              <a:gd name="adj" fmla="val 1538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78040" y="16002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vaccine R&amp;D needs rigorous data design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78040" y="2514600"/>
            <a:ext cx="457200" cy="457200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0" y="24871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2807208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links back to its candidate, batch, and trial.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78040" y="3685032"/>
            <a:ext cx="457200" cy="457200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36576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39776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and keys keep clinical and safety data consistent.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78040" y="4855464"/>
            <a:ext cx="457200" cy="457200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7804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18120" y="4828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18120" y="514807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 are validated against real enrollment records.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</a:t>
            </a:r>
            <a:r>
              <a:rPr lang="en-US" sz="30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5856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antigen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6946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candidates linked to antigens with role, amount, and unit.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8160" y="150876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56760" y="1737360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567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56760" y="225856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&amp; manufacturing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6760" y="256946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amounts and formulation doses must be positive when provided.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07680" y="150876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36280" y="1737360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362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6280" y="225856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evaluation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6280" y="256946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Animal-model studies and their measured results recorded per candidate.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3977640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49884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development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phases, multi-site studies, and site participation.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8160" y="374904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56760" y="3977640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5676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56760" y="449884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safety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676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enrollment, laboratory results, and adverse-event monitoring.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7680" y="374904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36280" y="3977640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3628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6280" y="449884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by design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3628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/ FK / UNIQUE / CHECK constraints, indexes, and a live validation trigger.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8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DD35D-A3A5-4C4E-ACE5-7379D0056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6FA519-24E9-581A-1C05-5E74C13B2007}"/>
              </a:ext>
            </a:extLst>
          </p:cNvPr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FOUNDATION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31409C-AE78-D2D5-9002-8B3FCA00EDEC}"/>
              </a:ext>
            </a:extLst>
          </p:cNvPr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Business Rules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138CA5-95E0-673D-BB07-31D7F4AD611F}"/>
              </a:ext>
            </a:extLst>
          </p:cNvPr>
          <p:cNvSpPr/>
          <p:nvPr/>
        </p:nvSpPr>
        <p:spPr>
          <a:xfrm>
            <a:off x="595376" y="1732280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E57861-9B18-E9B4-6D32-20967C5CBF21}"/>
              </a:ext>
            </a:extLst>
          </p:cNvPr>
          <p:cNvSpPr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13C1AC-3E5A-46F5-162D-E0BF98DB1633}"/>
              </a:ext>
            </a:extLst>
          </p:cNvPr>
          <p:cNvSpPr/>
          <p:nvPr/>
        </p:nvSpPr>
        <p:spPr>
          <a:xfrm>
            <a:off x="1032764" y="3149894"/>
            <a:ext cx="50068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amounts and formulation dose amounts must be positive when provided.</a:t>
            </a:r>
            <a:endParaRPr lang="en-US" b="1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ED2AAE7-9269-1252-636A-92390F02F694}"/>
              </a:ext>
            </a:extLst>
          </p:cNvPr>
          <p:cNvSpPr/>
          <p:nvPr/>
        </p:nvSpPr>
        <p:spPr>
          <a:xfrm>
            <a:off x="6182360" y="1632204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E47A8CB-891C-AE29-FC22-6C8F583FDB7B}"/>
              </a:ext>
            </a:extLst>
          </p:cNvPr>
          <p:cNvSpPr/>
          <p:nvPr/>
        </p:nvSpPr>
        <p:spPr>
          <a:xfrm>
            <a:off x="6852920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29B06BC-FA17-CA2B-1AF1-F4674D60227E}"/>
              </a:ext>
            </a:extLst>
          </p:cNvPr>
          <p:cNvSpPr/>
          <p:nvPr/>
        </p:nvSpPr>
        <p:spPr>
          <a:xfrm>
            <a:off x="4556760" y="225856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9608164-55C2-093F-13CF-A98E9B229CC1}"/>
              </a:ext>
            </a:extLst>
          </p:cNvPr>
          <p:cNvSpPr/>
          <p:nvPr/>
        </p:nvSpPr>
        <p:spPr>
          <a:xfrm>
            <a:off x="4556760" y="256946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08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84D0540-8699-2E0A-2EB7-B691FD29477E}"/>
              </a:ext>
            </a:extLst>
          </p:cNvPr>
          <p:cNvSpPr/>
          <p:nvPr/>
        </p:nvSpPr>
        <p:spPr>
          <a:xfrm>
            <a:off x="595376" y="4928616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894F5BE-59B9-F9C2-B984-1B36372DEEE2}"/>
              </a:ext>
            </a:extLst>
          </p:cNvPr>
          <p:cNvSpPr/>
          <p:nvPr/>
        </p:nvSpPr>
        <p:spPr>
          <a:xfrm>
            <a:off x="83362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101EE17-B2C2-086B-0154-019FDF54D446}"/>
              </a:ext>
            </a:extLst>
          </p:cNvPr>
          <p:cNvSpPr/>
          <p:nvPr/>
        </p:nvSpPr>
        <p:spPr>
          <a:xfrm>
            <a:off x="8336280" y="225856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17C8CDF-CD3E-5152-AE6A-E4D59B239FCF}"/>
              </a:ext>
            </a:extLst>
          </p:cNvPr>
          <p:cNvSpPr/>
          <p:nvPr/>
        </p:nvSpPr>
        <p:spPr>
          <a:xfrm>
            <a:off x="8336280" y="256946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6B64948-9626-CB73-C7AD-33D92A72E73A}"/>
              </a:ext>
            </a:extLst>
          </p:cNvPr>
          <p:cNvSpPr/>
          <p:nvPr/>
        </p:nvSpPr>
        <p:spPr>
          <a:xfrm>
            <a:off x="585216" y="3429000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54AA11A-61B5-B179-BD82-B3B688DD941D}"/>
              </a:ext>
            </a:extLst>
          </p:cNvPr>
          <p:cNvSpPr/>
          <p:nvPr/>
        </p:nvSpPr>
        <p:spPr>
          <a:xfrm>
            <a:off x="950976" y="5043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555523A-B48F-126F-66EF-AC36D536AE0B}"/>
              </a:ext>
            </a:extLst>
          </p:cNvPr>
          <p:cNvSpPr/>
          <p:nvPr/>
        </p:nvSpPr>
        <p:spPr>
          <a:xfrm>
            <a:off x="77724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CE79921-4715-1392-E729-18F16A4FB129}"/>
              </a:ext>
            </a:extLst>
          </p:cNvPr>
          <p:cNvSpPr/>
          <p:nvPr/>
        </p:nvSpPr>
        <p:spPr>
          <a:xfrm>
            <a:off x="6162040" y="3355848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AA79D9F-79E4-33C2-1076-499427522A54}"/>
              </a:ext>
            </a:extLst>
          </p:cNvPr>
          <p:cNvSpPr/>
          <p:nvPr/>
        </p:nvSpPr>
        <p:spPr>
          <a:xfrm>
            <a:off x="455676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E84B1F5-5814-A560-48C1-7585DC82A019}"/>
              </a:ext>
            </a:extLst>
          </p:cNvPr>
          <p:cNvSpPr/>
          <p:nvPr/>
        </p:nvSpPr>
        <p:spPr>
          <a:xfrm>
            <a:off x="4556760" y="449884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90D3348-2A9A-245F-C0BE-02C1516FC2E2}"/>
              </a:ext>
            </a:extLst>
          </p:cNvPr>
          <p:cNvSpPr/>
          <p:nvPr/>
        </p:nvSpPr>
        <p:spPr>
          <a:xfrm>
            <a:off x="455676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79502B5-129C-E1D5-655F-0868B4DAE425}"/>
              </a:ext>
            </a:extLst>
          </p:cNvPr>
          <p:cNvSpPr/>
          <p:nvPr/>
        </p:nvSpPr>
        <p:spPr>
          <a:xfrm>
            <a:off x="6182360" y="4820920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F9B21BA-3412-1591-43FE-214828A050A2}"/>
              </a:ext>
            </a:extLst>
          </p:cNvPr>
          <p:cNvSpPr/>
          <p:nvPr/>
        </p:nvSpPr>
        <p:spPr>
          <a:xfrm>
            <a:off x="833628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8181ED7-7389-7804-EAAA-41BAC328732D}"/>
              </a:ext>
            </a:extLst>
          </p:cNvPr>
          <p:cNvSpPr/>
          <p:nvPr/>
        </p:nvSpPr>
        <p:spPr>
          <a:xfrm>
            <a:off x="8336280" y="449884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7BCF218-C621-F366-9A57-C60B44960349}"/>
              </a:ext>
            </a:extLst>
          </p:cNvPr>
          <p:cNvSpPr/>
          <p:nvPr/>
        </p:nvSpPr>
        <p:spPr>
          <a:xfrm>
            <a:off x="833628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1C670EC-E4CF-CBA8-1BD9-C01B62FC32DF}"/>
              </a:ext>
            </a:extLst>
          </p:cNvPr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8284E3A-68A6-288A-5CEA-9F6667F0F26C}"/>
              </a:ext>
            </a:extLst>
          </p:cNvPr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1F01C4-C9FA-D24A-37C8-34269CB72187}"/>
              </a:ext>
            </a:extLst>
          </p:cNvPr>
          <p:cNvSpPr txBox="1"/>
          <p:nvPr/>
        </p:nvSpPr>
        <p:spPr>
          <a:xfrm>
            <a:off x="1016000" y="1618595"/>
            <a:ext cx="5166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key candidate, antigen, formulation, batch, study, site, participant, test code is unique.</a:t>
            </a:r>
            <a:endParaRPr lang="en-US" b="1" dirty="0"/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9756E9-2279-1002-30B6-F1B860394AA0}"/>
              </a:ext>
            </a:extLst>
          </p:cNvPr>
          <p:cNvSpPr txBox="1"/>
          <p:nvPr/>
        </p:nvSpPr>
        <p:spPr>
          <a:xfrm>
            <a:off x="6598920" y="1475281"/>
            <a:ext cx="5380736" cy="734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completion and withdrawal dates cannot precede the enrollment date.</a:t>
            </a:r>
            <a:endParaRPr lang="en-US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7CD34E-7FAB-8E66-C1D9-620846E31368}"/>
              </a:ext>
            </a:extLst>
          </p:cNvPr>
          <p:cNvSpPr txBox="1"/>
          <p:nvPr/>
        </p:nvSpPr>
        <p:spPr>
          <a:xfrm>
            <a:off x="6637528" y="3267481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enrollment must reference an existing clinical-study site combination.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17CC45-2C3E-1282-B3A3-855E1DF0605A}"/>
              </a:ext>
            </a:extLst>
          </p:cNvPr>
          <p:cNvSpPr txBox="1"/>
          <p:nvPr/>
        </p:nvSpPr>
        <p:spPr>
          <a:xfrm>
            <a:off x="950976" y="4791456"/>
            <a:ext cx="5170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and clinical study end dates cannot precede their own start dates.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3286CF-748D-E927-8947-B6C660BA7580}"/>
              </a:ext>
            </a:extLst>
          </p:cNvPr>
          <p:cNvSpPr txBox="1"/>
          <p:nvPr/>
        </p:nvSpPr>
        <p:spPr>
          <a:xfrm>
            <a:off x="6566408" y="4647443"/>
            <a:ext cx="5786120" cy="106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adverse event can only be logged for a participant already enrolled in that study, on or after enrollment enforced live by a trigger.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75060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Entities — 16 Relational 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84832" cy="548640"/>
          </a:xfrm>
          <a:prstGeom prst="roundRect">
            <a:avLst>
              <a:gd name="adj" fmla="val 10000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Antigen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VACCINE_CANDIDATE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548640" y="3328416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32841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CANDIDATE_ANTIGEN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807208" y="1508760"/>
            <a:ext cx="2084832" cy="548640"/>
          </a:xfrm>
          <a:prstGeom prst="roundRect">
            <a:avLst>
              <a:gd name="adj" fmla="val 1000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80360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&amp; Batch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07208" y="2194560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98648" y="21945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2807208" y="276148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98648" y="27614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065776" y="1508760"/>
            <a:ext cx="2084832" cy="548640"/>
          </a:xfrm>
          <a:prstGeom prst="roundRect">
            <a:avLst>
              <a:gd name="adj" fmla="val 1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38928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Research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65776" y="2194560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57216" y="21945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PRECLINICAL_STUDY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065776" y="276148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57216" y="27614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PRECLINICAL_RESULT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324344" y="1508760"/>
            <a:ext cx="2084832" cy="548640"/>
          </a:xfrm>
          <a:prstGeom prst="roundRect">
            <a:avLst>
              <a:gd name="adj" fmla="val 10000"/>
            </a:avLst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97496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24344" y="2194560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15784" y="21945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CLINICAL_PHASE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324344" y="276148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15784" y="27614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CLINICAL_STUDY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7324344" y="3328416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15784" y="332841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STUDY_SITE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7324344" y="3895344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15784" y="3895344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CLINICAL_STUDY_SITE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7324344" y="4462272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15784" y="446227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CLINICAL_ENROLLMENT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9582912" y="1508760"/>
            <a:ext cx="2084832" cy="548640"/>
          </a:xfrm>
          <a:prstGeom prst="roundRect">
            <a:avLst>
              <a:gd name="adj" fmla="val 10000"/>
            </a:avLst>
          </a:prstGeom>
          <a:solidFill>
            <a:srgbClr val="4A3B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56064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&amp; Safety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582912" y="2194560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674352" y="21945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9582912" y="276148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74352" y="27614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LABORATORY_TEST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9582912" y="3328416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674352" y="332841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PARTICIPANT_LAB_RESULT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9582912" y="3895344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674352" y="3895344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ADVERSE_EVENT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Design &amp; Cardinality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846320"/>
          </a:xfrm>
          <a:prstGeom prst="roundRect">
            <a:avLst>
              <a:gd name="adj" fmla="val 1132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VACCINE_CANDIDATE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1600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16002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97880" y="1508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984248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9842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20756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20756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97880" y="19842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459736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4597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VACCINE_CANDIDATE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255117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55117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4597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0" y="24597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associative table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935224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9352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VACCINE_CANDIDATE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302666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30266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29352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PRECLINICAL_STUDY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410712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34107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PRECLINICAL_STUDY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50215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35021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34107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PRECLINICAL_RESULT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3886200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VACCINE_CANDIDATE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9776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3977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9788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CLINICAL_STUDY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4361688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43616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CLINICAL_STUDY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445312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44531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43616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STUDY_SITE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01200" y="4361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associative table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4837176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8680" y="48371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92040" y="492861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92040" y="49286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97880" y="48371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CLINICAL_STUDY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601200" y="483717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associative table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" y="5312664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8680" y="53126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92040" y="540410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92040" y="540410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97880" y="53126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PARTICIPANT_LAB_RESULT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31520" y="5788152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68680" y="57881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892040" y="587959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92040" y="58795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897880" y="57881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ADVERSE_EVENT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8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2ED4E-EE44-BB9A-844D-DD1BB964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020622-4072-5AFF-D288-6BF13395E33C}"/>
              </a:ext>
            </a:extLst>
          </p:cNvPr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DATA MODEL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6D668A-EE33-3CA6-960B-98E8261C7285}"/>
              </a:ext>
            </a:extLst>
          </p:cNvPr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Design &amp; Cardinality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052E9C-C57F-AC7B-B45A-FCF08E569BB0}"/>
              </a:ext>
            </a:extLst>
          </p:cNvPr>
          <p:cNvSpPr/>
          <p:nvPr/>
        </p:nvSpPr>
        <p:spPr>
          <a:xfrm>
            <a:off x="868680" y="1508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BF02B1-E7B1-FEAC-E749-0C61542CB58B}"/>
              </a:ext>
            </a:extLst>
          </p:cNvPr>
          <p:cNvSpPr/>
          <p:nvPr/>
        </p:nvSpPr>
        <p:spPr>
          <a:xfrm>
            <a:off x="4892040" y="16002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D5B22A1-ECDF-3203-1267-07CF83E13F7D}"/>
              </a:ext>
            </a:extLst>
          </p:cNvPr>
          <p:cNvSpPr/>
          <p:nvPr/>
        </p:nvSpPr>
        <p:spPr>
          <a:xfrm>
            <a:off x="5897880" y="1508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D324536-0570-C680-49DF-90FCCD36CC3F}"/>
              </a:ext>
            </a:extLst>
          </p:cNvPr>
          <p:cNvSpPr/>
          <p:nvPr/>
        </p:nvSpPr>
        <p:spPr>
          <a:xfrm>
            <a:off x="731520" y="1984248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1445346-1FE4-EC38-B301-5032DCF7E15F}"/>
              </a:ext>
            </a:extLst>
          </p:cNvPr>
          <p:cNvSpPr/>
          <p:nvPr/>
        </p:nvSpPr>
        <p:spPr>
          <a:xfrm>
            <a:off x="868680" y="19842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9028BC-86AF-B523-38B8-2DBE4D419829}"/>
              </a:ext>
            </a:extLst>
          </p:cNvPr>
          <p:cNvSpPr/>
          <p:nvPr/>
        </p:nvSpPr>
        <p:spPr>
          <a:xfrm>
            <a:off x="4892040" y="20756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8C0DDDA-0CFC-E06B-95CA-F9EC4D6EBAB0}"/>
              </a:ext>
            </a:extLst>
          </p:cNvPr>
          <p:cNvSpPr/>
          <p:nvPr/>
        </p:nvSpPr>
        <p:spPr>
          <a:xfrm>
            <a:off x="5897880" y="19842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CB6FCDB-88C5-F11E-1E50-B6FAFDC555CC}"/>
              </a:ext>
            </a:extLst>
          </p:cNvPr>
          <p:cNvSpPr/>
          <p:nvPr/>
        </p:nvSpPr>
        <p:spPr>
          <a:xfrm>
            <a:off x="731520" y="2459736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667C5A-1710-65B3-1A09-DCF7B20E1A57}"/>
              </a:ext>
            </a:extLst>
          </p:cNvPr>
          <p:cNvSpPr/>
          <p:nvPr/>
        </p:nvSpPr>
        <p:spPr>
          <a:xfrm>
            <a:off x="868680" y="24597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E9E70C6-D802-7921-8617-659CB1A20141}"/>
              </a:ext>
            </a:extLst>
          </p:cNvPr>
          <p:cNvSpPr/>
          <p:nvPr/>
        </p:nvSpPr>
        <p:spPr>
          <a:xfrm>
            <a:off x="4892040" y="255117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06D5A3D-FC4C-F328-94B0-92849787BE29}"/>
              </a:ext>
            </a:extLst>
          </p:cNvPr>
          <p:cNvSpPr/>
          <p:nvPr/>
        </p:nvSpPr>
        <p:spPr>
          <a:xfrm>
            <a:off x="5897880" y="24597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6069F84-1D05-5606-91AC-5EF5D949B217}"/>
              </a:ext>
            </a:extLst>
          </p:cNvPr>
          <p:cNvSpPr/>
          <p:nvPr/>
        </p:nvSpPr>
        <p:spPr>
          <a:xfrm>
            <a:off x="9601200" y="24597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6D0BABC-F35E-276D-82DA-799E9FB86250}"/>
              </a:ext>
            </a:extLst>
          </p:cNvPr>
          <p:cNvSpPr/>
          <p:nvPr/>
        </p:nvSpPr>
        <p:spPr>
          <a:xfrm>
            <a:off x="731520" y="2935224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8C26E2A-5666-D553-30B6-EDBFEF242E3D}"/>
              </a:ext>
            </a:extLst>
          </p:cNvPr>
          <p:cNvSpPr/>
          <p:nvPr/>
        </p:nvSpPr>
        <p:spPr>
          <a:xfrm>
            <a:off x="868680" y="29352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41CD496-5554-6CF1-7828-56FC146900B8}"/>
              </a:ext>
            </a:extLst>
          </p:cNvPr>
          <p:cNvSpPr/>
          <p:nvPr/>
        </p:nvSpPr>
        <p:spPr>
          <a:xfrm>
            <a:off x="4892040" y="30266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A25F7CD-D36E-A0B0-42D0-5EFF9D33EEDD}"/>
              </a:ext>
            </a:extLst>
          </p:cNvPr>
          <p:cNvSpPr/>
          <p:nvPr/>
        </p:nvSpPr>
        <p:spPr>
          <a:xfrm>
            <a:off x="5897880" y="29352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F0C2284-636E-06A5-EFBD-7F296D6EA4D6}"/>
              </a:ext>
            </a:extLst>
          </p:cNvPr>
          <p:cNvSpPr/>
          <p:nvPr/>
        </p:nvSpPr>
        <p:spPr>
          <a:xfrm>
            <a:off x="868680" y="34107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AB56218-0251-A709-3922-589A7F9A3A01}"/>
              </a:ext>
            </a:extLst>
          </p:cNvPr>
          <p:cNvSpPr/>
          <p:nvPr/>
        </p:nvSpPr>
        <p:spPr>
          <a:xfrm>
            <a:off x="4892040" y="35021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63FBD3A-2C2A-A192-7975-AE8F4D632510}"/>
              </a:ext>
            </a:extLst>
          </p:cNvPr>
          <p:cNvSpPr/>
          <p:nvPr/>
        </p:nvSpPr>
        <p:spPr>
          <a:xfrm>
            <a:off x="5897880" y="34107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590855C-0818-2AAE-7C18-601A94D4D5F0}"/>
              </a:ext>
            </a:extLst>
          </p:cNvPr>
          <p:cNvSpPr/>
          <p:nvPr/>
        </p:nvSpPr>
        <p:spPr>
          <a:xfrm>
            <a:off x="86868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E45BB72-0414-6BFA-7A33-61CD798F6647}"/>
              </a:ext>
            </a:extLst>
          </p:cNvPr>
          <p:cNvSpPr/>
          <p:nvPr/>
        </p:nvSpPr>
        <p:spPr>
          <a:xfrm>
            <a:off x="4892040" y="3977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5E7AE8A-957D-2418-7F76-F50039AAFD58}"/>
              </a:ext>
            </a:extLst>
          </p:cNvPr>
          <p:cNvSpPr/>
          <p:nvPr/>
        </p:nvSpPr>
        <p:spPr>
          <a:xfrm>
            <a:off x="589788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3DC9F4F-01C0-5AFC-EF72-AFA1007A319C}"/>
              </a:ext>
            </a:extLst>
          </p:cNvPr>
          <p:cNvSpPr/>
          <p:nvPr/>
        </p:nvSpPr>
        <p:spPr>
          <a:xfrm>
            <a:off x="731520" y="4361688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00E49A9-54B1-DFB0-8F2E-B97D699D526C}"/>
              </a:ext>
            </a:extLst>
          </p:cNvPr>
          <p:cNvSpPr/>
          <p:nvPr/>
        </p:nvSpPr>
        <p:spPr>
          <a:xfrm>
            <a:off x="868680" y="43616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82AE0D3-91E9-D978-B377-ED296BEA9C0D}"/>
              </a:ext>
            </a:extLst>
          </p:cNvPr>
          <p:cNvSpPr/>
          <p:nvPr/>
        </p:nvSpPr>
        <p:spPr>
          <a:xfrm>
            <a:off x="4892040" y="44531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0B40A5A-A98D-6773-9BFD-43D886D14189}"/>
              </a:ext>
            </a:extLst>
          </p:cNvPr>
          <p:cNvSpPr/>
          <p:nvPr/>
        </p:nvSpPr>
        <p:spPr>
          <a:xfrm>
            <a:off x="5897880" y="43616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D50DA6D-C277-5DC5-C600-6E723DC17DE0}"/>
              </a:ext>
            </a:extLst>
          </p:cNvPr>
          <p:cNvSpPr/>
          <p:nvPr/>
        </p:nvSpPr>
        <p:spPr>
          <a:xfrm>
            <a:off x="9601200" y="4361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E884263-0DB3-22BD-B505-43449567859E}"/>
              </a:ext>
            </a:extLst>
          </p:cNvPr>
          <p:cNvSpPr/>
          <p:nvPr/>
        </p:nvSpPr>
        <p:spPr>
          <a:xfrm>
            <a:off x="731520" y="4837176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B1814D8-5582-FA07-7A5D-B194C875BA4E}"/>
              </a:ext>
            </a:extLst>
          </p:cNvPr>
          <p:cNvSpPr/>
          <p:nvPr/>
        </p:nvSpPr>
        <p:spPr>
          <a:xfrm>
            <a:off x="868680" y="48371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0FE7C7C-513F-F4AA-7A91-80D1715FBCC1}"/>
              </a:ext>
            </a:extLst>
          </p:cNvPr>
          <p:cNvSpPr/>
          <p:nvPr/>
        </p:nvSpPr>
        <p:spPr>
          <a:xfrm>
            <a:off x="4892040" y="49286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135EC24-BD45-0FF8-34CE-8C675C00465E}"/>
              </a:ext>
            </a:extLst>
          </p:cNvPr>
          <p:cNvSpPr/>
          <p:nvPr/>
        </p:nvSpPr>
        <p:spPr>
          <a:xfrm>
            <a:off x="5897880" y="48371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E0DEE9B8-6072-FBEE-1852-1C309C740E69}"/>
              </a:ext>
            </a:extLst>
          </p:cNvPr>
          <p:cNvSpPr/>
          <p:nvPr/>
        </p:nvSpPr>
        <p:spPr>
          <a:xfrm>
            <a:off x="9601200" y="483717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6CB717C6-DD75-0C3B-0547-C8D700F501DA}"/>
              </a:ext>
            </a:extLst>
          </p:cNvPr>
          <p:cNvSpPr/>
          <p:nvPr/>
        </p:nvSpPr>
        <p:spPr>
          <a:xfrm>
            <a:off x="731520" y="5312664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19E863F-F87B-4E9F-0E80-CFDC633DCB66}"/>
              </a:ext>
            </a:extLst>
          </p:cNvPr>
          <p:cNvSpPr/>
          <p:nvPr/>
        </p:nvSpPr>
        <p:spPr>
          <a:xfrm>
            <a:off x="868680" y="53126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FF93F73F-447D-643F-FB92-23E2B71AD72C}"/>
              </a:ext>
            </a:extLst>
          </p:cNvPr>
          <p:cNvSpPr/>
          <p:nvPr/>
        </p:nvSpPr>
        <p:spPr>
          <a:xfrm>
            <a:off x="4892040" y="540410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378AC8D-3496-C702-0D73-931D343F1426}"/>
              </a:ext>
            </a:extLst>
          </p:cNvPr>
          <p:cNvSpPr/>
          <p:nvPr/>
        </p:nvSpPr>
        <p:spPr>
          <a:xfrm>
            <a:off x="5897880" y="53126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DD117B7-00D7-9A88-81EB-B815B75C017A}"/>
              </a:ext>
            </a:extLst>
          </p:cNvPr>
          <p:cNvSpPr/>
          <p:nvPr/>
        </p:nvSpPr>
        <p:spPr>
          <a:xfrm>
            <a:off x="731520" y="5788152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E7A748C-7043-7DD4-0495-EFB8DD15F6D5}"/>
              </a:ext>
            </a:extLst>
          </p:cNvPr>
          <p:cNvSpPr/>
          <p:nvPr/>
        </p:nvSpPr>
        <p:spPr>
          <a:xfrm>
            <a:off x="868680" y="57881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9AFEA1F6-2351-51C5-58B4-06D3937DBB37}"/>
              </a:ext>
            </a:extLst>
          </p:cNvPr>
          <p:cNvSpPr/>
          <p:nvPr/>
        </p:nvSpPr>
        <p:spPr>
          <a:xfrm>
            <a:off x="4892040" y="58795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60AC4C0-FAC8-2DA3-1C72-8854C7457A72}"/>
              </a:ext>
            </a:extLst>
          </p:cNvPr>
          <p:cNvSpPr/>
          <p:nvPr/>
        </p:nvSpPr>
        <p:spPr>
          <a:xfrm>
            <a:off x="5897880" y="57881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592E371-AFA7-5BB6-E891-0C7BF3A321E6}"/>
              </a:ext>
            </a:extLst>
          </p:cNvPr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981DAB7F-7D38-7BCE-5D67-F0D8264E5F3B}"/>
              </a:ext>
            </a:extLst>
          </p:cNvPr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37A00F3B-DD57-2421-ACEE-6A380C3B1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1296688"/>
            <a:ext cx="8311399" cy="515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87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&amp; 3NF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attributes are atomic. Antigens, batches, results, and events are stored as separate rows, not repeating groups.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463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99432" y="1645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99432" y="21488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attributes depend on the full primary key. Relationship-specific data (e.g. antigen_role) lives in its associative table.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1463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75904" y="1645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75904" y="21488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dependencies are removed by separating clinical phases, formulations, test definitions, and study sites.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3913632"/>
            <a:ext cx="384048" cy="384048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913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886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Resolving the many-to-many relationships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315968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CANDIDATE_ANTIGEN, CLINICAL_STUDY_SITE, and CLINICAL_ENROLLMENT are associative tables that resolve every M:N relationship in the schema. CLINICAL_ENROLLMENT carries a composite foreign key back to CLINICAL_STUDY_SITE, guaranteeing that a participant can only enroll through a study–site combination that actually exists.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scripts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trigger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3649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  ·  MySQL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D5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create_tables.sql   </a:t>
            </a:r>
            <a:r>
              <a:rPr lang="en-US" sz="11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vaccine_rnd_db, all 16 tables, PK/FK, CHECK and UNIQUE constraints, and indexes.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424281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D5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insert_data.sql   </a:t>
            </a:r>
            <a:r>
              <a:rPr lang="en-US" sz="11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synthetic demonstration data — 10 rows per core entity.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46451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D5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views.sql   </a:t>
            </a:r>
            <a:r>
              <a:rPr lang="en-US" sz="11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vw_clinical_study_summary and vw_adverse_event_summary.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50474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D5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trigger.sql   </a:t>
            </a:r>
            <a:r>
              <a:rPr lang="en-US" sz="11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trg_validate_adverse_event_date.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544982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D5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queries.sql   </a:t>
            </a:r>
            <a:r>
              <a:rPr lang="en-US" sz="11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SELECT, JOIN, aggregation, subqueries, and DML operations.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Operations Demonstrated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7465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14884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Retrieval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development_status IN (...) on vaccine_candidate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12920" y="160020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14088" y="17465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14088" y="214884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4088" y="251460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vaccine_candidate to formulation on candidate_id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77200" y="160020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78368" y="17465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8368" y="214884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8368" y="251460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clinical_study, vaccine_candidate, clinical_phase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41239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452628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489204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COUNT(formulation_id) GROUP BY candidate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12920" y="397764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14088" y="41239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14088" y="452628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&amp; Subqueries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14088" y="489204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 counts above average formulation count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77200" y="397764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78368" y="41239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78368" y="452628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8368" y="489204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INSERT, UPDATE, and DELETE on antigen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&amp; Advanced Database Object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vw_clinical_study_summary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code, candidate name, phase, status, distinct enrolled participants, and participating sites.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173736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73736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1671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vw_adverse_event_summary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 grouped by candidate, study, severity, seriousness, vaccine relationship, and count.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023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0233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trg_validate_adverse_event_date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 INSERT trigger on ADVERSE_EVENT checks that the participant is enrolled in the same clinical study, and blocks any event dated earlier than their enrollment — raising a SQLSTATE 45000 error on violation.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Integrity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E7E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inserts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69164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F7E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7872" y="189280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47872" y="31089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4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UNIQUE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69164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F7E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64224" y="189280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status / dates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64224" y="31089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4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CHECK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7696" y="169164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F7E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80576" y="189280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foreign key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80576" y="31089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4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FK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F7E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13308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Non-enrolled adverse event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4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trigger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64992" y="393192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F7E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47872" y="413308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before enrollment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47872" y="534924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4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trigger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393192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E7E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64224" y="413308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enrollment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64224" y="534924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97696" y="393192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E7E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80576" y="413308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execution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80576" y="534924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both views return 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fictional, built for academic demonstration.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authentication, authorization, or role-based permissions yet.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participants would need stronger privacy and audit controls in production.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inventory forecasting or manufacturing equipment integration.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or mobile interface for research teams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and audit history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dashboards for trial progress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Laboratory-system integration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 workflows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clinical safety reporting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solidFill>
            <a:srgbClr val="4A3B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1280160"/>
            <a:ext cx="2743200" cy="2743200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database that follows the vaccine, from lab bench to patient safety.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84048" cy="384048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81635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candidate, antigen, formulation, and batch relationships end to 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56432"/>
            <a:ext cx="384048" cy="384048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438144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preclinical research through multi-site clinical trials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78224"/>
            <a:ext cx="384048" cy="384048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078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059936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integrity with PK/FK, UNIQUE and CHECK constraints, and indexes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00016"/>
            <a:ext cx="384048" cy="384048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700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681728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3NF, with two analytical views and a safety-validation trigger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4A3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1353</Words>
  <Application>Microsoft Office PowerPoint</Application>
  <PresentationFormat>Widescreen</PresentationFormat>
  <Paragraphs>263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Haneen Muhamed</cp:lastModifiedBy>
  <cp:revision>4</cp:revision>
  <dcterms:created xsi:type="dcterms:W3CDTF">2026-08-16T16:36:47Z</dcterms:created>
  <dcterms:modified xsi:type="dcterms:W3CDTF">2026-08-16T17:53:50Z</dcterms:modified>
</cp:coreProperties>
</file>